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51560"/>
            <a:ext cx="3566160" cy="3566160"/>
          </a:xfrm>
          <a:prstGeom prst="ellipse">
            <a:avLst/>
          </a:prstGeom>
          <a:solidFill>
            <a:srgbClr val="0B1F33">
              <a:alpha val="0"/>
            </a:srgbClr>
          </a:solidFill>
          <a:ln w="15240">
            <a:solidFill>
              <a:srgbClr val="12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89720" y="1828800"/>
            <a:ext cx="2011680" cy="2011680"/>
          </a:xfrm>
          <a:prstGeom prst="ellipse">
            <a:avLst/>
          </a:prstGeom>
          <a:solidFill>
            <a:srgbClr val="0B1F33">
              <a:alpha val="0"/>
            </a:srgbClr>
          </a:solidFill>
          <a:ln w="15240">
            <a:solidFill>
              <a:srgbClr val="12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84080" y="2423160"/>
            <a:ext cx="822960" cy="822960"/>
          </a:xfrm>
          <a:prstGeom prst="ellipse">
            <a:avLst/>
          </a:prstGeom>
          <a:solidFill>
            <a:srgbClr val="0B1F33">
              <a:alpha val="0"/>
            </a:srgbClr>
          </a:solidFill>
          <a:ln w="19050">
            <a:solidFill>
              <a:srgbClr val="3D9B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0" y="2697480"/>
            <a:ext cx="274320" cy="274320"/>
          </a:xfrm>
          <a:prstGeom prst="ellipse">
            <a:avLst/>
          </a:prstGeom>
          <a:solidFill>
            <a:srgbClr val="3D9B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470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ZHIDUN AI SECURITY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智能体驱动的 AI 安全知识情报系统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1272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6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多源监测 · 证据富化 · 可追溯问答的 AI 安全情报闭环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4224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参赛赛题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4224528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赛题九 · 网信产业应用赛道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62686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命题单位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74520" y="4626864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奇安信科技集团股份有限公司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50292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赛事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74520" y="5029200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1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第三届“中国电子杯”高校 ICT 产教融合创新大赛 · 校内初赛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1447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证据先于结论 · 每条情报可回溯原始出处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PROBLEM &amp;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安全情报的三重困境与我们的答案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信息过载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952" y="2176272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漏洞散落在 CVE/NVD、社区、厂商公告、论文、博客，人工跟踪不可持续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57276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覆盖缺失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81144" y="2176272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传统情报系统面向通用漏洞，对 AI 框架、模型层、智能体风险缺乏深度覆盖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47304" y="1572768"/>
            <a:ext cx="3566160" cy="1572768"/>
          </a:xfrm>
          <a:prstGeom prst="roundRect">
            <a:avLst>
              <a:gd name="adj" fmla="val 4651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03336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决策断层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03336" y="2176272"/>
            <a:ext cx="3072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缺少自然语言问答与证据链，难以支撑“影响哪些资产、如何处置”的应急决策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529584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知盾将分散情报组织成可审计知识库，以带来源的问答支持处置；证据不足时明确拒答。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4360" y="4526280"/>
            <a:ext cx="475488" cy="475488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526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6152" y="4507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持续发现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16152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多源自动监测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04488" y="45537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416552" y="4526280"/>
            <a:ext cx="475488" cy="475488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21" name="Text 19"/>
          <p:cNvSpPr/>
          <p:nvPr/>
        </p:nvSpPr>
        <p:spPr>
          <a:xfrm>
            <a:off x="4416552" y="4526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38344" y="4507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可信富化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038344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证据化关联加工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26680" y="45537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238744" y="4526280"/>
            <a:ext cx="475488" cy="475488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26" name="Text 24"/>
          <p:cNvSpPr/>
          <p:nvPr/>
        </p:nvSpPr>
        <p:spPr>
          <a:xfrm>
            <a:off x="8238744" y="4526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860536" y="4507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可追溯问答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860536" y="4818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引用+推理链+拒答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总体架构：六层流水线 + 全程审计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pic>
        <p:nvPicPr>
          <p:cNvPr id="5" name="Image 0" descr="/Users/kyrie/戴书恒/中国电子杯/赛题9_知盾AI安全情报系统/docs/report_assets/fig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81328"/>
            <a:ext cx="7635240" cy="4974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13648" y="1572768"/>
            <a:ext cx="3072384" cy="1060704"/>
          </a:xfrm>
          <a:prstGeom prst="roundRect">
            <a:avLst>
              <a:gd name="adj" fmla="val 5172"/>
            </a:avLst>
          </a:prstGeom>
          <a:solidFill>
            <a:srgbClr val="EAF2F9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33104" y="168249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零依赖内核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833104" y="1993392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Python 标准库 + SQLite/FTS5，断网无 Key 可完整演示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13648" y="2779776"/>
            <a:ext cx="3072384" cy="1060704"/>
          </a:xfrm>
          <a:prstGeom prst="roundRect">
            <a:avLst>
              <a:gd name="adj" fmla="val 517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33104" y="288950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单一事实源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833104" y="3200400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文档与证据化声明分离存储，双时间戳+采集模式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613648" y="3986784"/>
            <a:ext cx="3072384" cy="1060704"/>
          </a:xfrm>
          <a:prstGeom prst="roundRect">
            <a:avLst>
              <a:gd name="adj" fmla="val 5172"/>
            </a:avLst>
          </a:prstGeom>
          <a:solidFill>
            <a:srgbClr val="EAF2F9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33104" y="40965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受控增强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833104" y="4407408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可选 GLM-5.3 规划问题并选择公开证据段落；失败回退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13648" y="5193792"/>
            <a:ext cx="3072384" cy="1060704"/>
          </a:xfrm>
          <a:prstGeom prst="roundRect">
            <a:avLst>
              <a:gd name="adj" fmla="val 517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33104" y="530352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工程基础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833104" y="5614416"/>
            <a:ext cx="26883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REST API / 指标 / Docker / CI 配置；运行记录待补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MULTI-AGENT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 类角色事件：规则编排、失败留痕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pic>
        <p:nvPicPr>
          <p:cNvPr id="5" name="Image 0" descr="/Users/kyrie/戴书恒/中国电子杯/赛题9_知盾AI安全情报系统/docs/report_assets/fig2_agent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7315200" cy="44897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83880" y="1517904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151790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调度代理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0012680" y="1517904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12680" y="151790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监测代理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183880" y="2084832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3880" y="208483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自愈代理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012680" y="2084832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12680" y="208483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分诊代理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183880" y="2651760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3880" y="26517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核验代理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012680" y="2651760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12680" y="26517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归一索引代理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83880" y="3218688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83880" y="321868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富化代理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0012680" y="3218688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12680" y="321868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关联推理代理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183880" y="3785616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3785616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问答规划代理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10012680" y="3785616"/>
            <a:ext cx="1719072" cy="457200"/>
          </a:xfrm>
          <a:prstGeom prst="roundRect">
            <a:avLst>
              <a:gd name="adj" fmla="val 10000"/>
            </a:avLst>
          </a:prstGeom>
          <a:solidFill>
            <a:srgbClr val="EAF2F9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12680" y="3785616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问答核验代理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183880" y="4443984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角色名称标识确定性代码步骤；标签数量不等于独立自主 Agent 数。GLM-5.3 仅规划意图并选择本地公开证据段落。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MODULE 1 ·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 个在线配置：9 个监测候选 + 3 个知识源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EAF2F9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" y="15179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官方漏洞库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80360" y="15179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NVD CVE API 2.0（支持 API Key）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EAF2F9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9933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开源公告库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80360" y="199339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GitHub Advisory + OSV.dev（来源可重叠）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EAF2F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" y="246888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政府已利用目录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80360" y="24688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CISA KEV Feed（置信度 0.98）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EAF2F9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" y="29443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厂商博客候选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80360" y="294436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HuggingFace 通用博客经关键词过滤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EAF2F9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" y="34198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CERT 公告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80360" y="341985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CISA 网络安全通告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895344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EAF2F9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" y="389534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安全社区媒体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389534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BleepingComputer + 安全客 RSS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02920" y="4370832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EAF2F9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" y="43708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研究博客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80360" y="437083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NIST Cybersecurity Insights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4846320"/>
            <a:ext cx="2148840" cy="402336"/>
          </a:xfrm>
          <a:prstGeom prst="roundRect">
            <a:avLst>
              <a:gd name="adj" fmla="val 11364"/>
            </a:avLst>
          </a:prstGeom>
          <a:solidFill>
            <a:srgbClr val="16466E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48463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知识底座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80360" y="48463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arXiv 论文 · NIST 标准新闻 · 网信办政策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06640" y="1517904"/>
            <a:ext cx="4279392" cy="932688"/>
          </a:xfrm>
          <a:prstGeom prst="roundRect">
            <a:avLst>
              <a:gd name="adj" fmla="val 588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6096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增量游标 + 10 分钟重叠窗口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626096" y="1920240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容忍乱序发布；入库幂等保证重叠不产生重复实体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06640" y="2596896"/>
            <a:ext cx="4279392" cy="932688"/>
          </a:xfrm>
          <a:prstGeom prst="roundRect">
            <a:avLst>
              <a:gd name="adj" fmla="val 588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6096" y="26883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内容哈希双级去重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626096" y="2999232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同源变更原位更新；跨源同 CVE 自动归并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06640" y="3675888"/>
            <a:ext cx="4279392" cy="932688"/>
          </a:xfrm>
          <a:prstGeom prst="roundRect">
            <a:avLst>
              <a:gd name="adj" fmla="val 588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26096" y="3767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时效度量内建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626096" y="4078224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双时间戳 + demo/live 模式标记，P50/P95 延迟经 /metrics 暴露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06640" y="4754880"/>
            <a:ext cx="4279392" cy="932688"/>
          </a:xfrm>
          <a:prstGeom prst="roundRect">
            <a:avLst>
              <a:gd name="adj" fmla="val 588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6096" y="4846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失败自愈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626096" y="5157216"/>
            <a:ext cx="3877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指数退避重试 3 次 → 源隔离 + 健康度跟踪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5440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注：一次全源运行 10/12 任务成功、入库 442 篇；2 源 HTTP 403。7 类独立来源与 ≤6h 延迟仍待持续验证。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MODULE 2 · ENRICHMENT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来源字段抽取与规则富化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27048"/>
            <a:ext cx="402336" cy="402336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27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9848" y="1481328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受影响产品与版本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86200" y="148132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来源字段映射 + 区间规范化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402336" cy="402336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30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9848" y="208483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CVSS 与风险级别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886200" y="208483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数值校验，缺失标“待评估”不记 0 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734056"/>
            <a:ext cx="402336" cy="402336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9848" y="2688336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修复版本与补丁链接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886200" y="2688336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fixed 字段 + patch 标签参考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402336" cy="402336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337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69848" y="3291840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PoC 候选链接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886200" y="3291840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离线样例无此项；在线只收录元数据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941064"/>
            <a:ext cx="402336" cy="402336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9848" y="3895344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相关论文/分析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886200" y="3895344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显式提及或同产品规则关联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544568"/>
            <a:ext cx="402336" cy="402336"/>
          </a:xfrm>
          <a:prstGeom prst="ellipse">
            <a:avLst/>
          </a:prstGeom>
          <a:solidFill>
            <a:srgbClr val="16466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544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69848" y="4498848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受影响资产匹配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886200" y="4498848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授权清单 × 保守版本区间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5148072"/>
            <a:ext cx="402336" cy="402336"/>
          </a:xfrm>
          <a:prstGeom prst="ellipse">
            <a:avLst/>
          </a:prstGeom>
          <a:solidFill>
            <a:srgbClr val="3D9BE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5148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69848" y="51023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处置优先级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886200" y="5102352"/>
            <a:ext cx="2834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CVSS × 暴露系数 × 关键度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086600" y="1481328"/>
            <a:ext cx="4617720" cy="3703320"/>
          </a:xfrm>
          <a:prstGeom prst="roundRect">
            <a:avLst>
              <a:gd name="adj" fmla="val 1975"/>
            </a:avLst>
          </a:prstGeom>
          <a:solidFill>
            <a:srgbClr val="0B1F33"/>
          </a:solidFill>
          <a:ln/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360920" y="1700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claims 证据化声明模型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60920" y="20665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9B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(subject, predicate, object)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360920" y="246888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8F1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document_id → 挂接来源文档（外键）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8F1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evidence → 文档摘要摘录，非逐字段原文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8F1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confidence → 按来源类别分层（KEV 0.98 … 博客 0.62）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E8F1F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间接证据自动降权（PoC 链接 −0.12）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360920" y="44805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 维深度富化和准确率仍待独立真值评测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AUTOMATIC ASSOCIATION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三类规则关联：保留关系来源与理由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EAF2F9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1719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 CVE 跨源归并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554480" y="2176272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2F8F6B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1762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强关联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09160" y="1737360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GitHub 公告 + Wiz 研究 → 同一漏洞证据组，多源分歧并列呈现，不由模型静默裁决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944368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2186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54480" y="3090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mentioned_in 显式提及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54480" y="3547872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3D9BE9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35478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中关联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3108960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论文/综述正文提及某 CVE 即建立反向关联边；问答与详情页据此给出“哪些研究讨论了它”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315968"/>
            <a:ext cx="10881360" cy="1188720"/>
          </a:xfrm>
          <a:prstGeom prst="roundRect">
            <a:avLst>
              <a:gd name="adj" fmla="val 5385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5902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③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554480" y="4462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产品重合推断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54480" y="4919472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C97B4A"/>
          </a:solidFill>
          <a:ln/>
        </p:spPr>
      </p:sp>
      <p:sp>
        <p:nvSpPr>
          <p:cNvPr id="21" name="Text 19"/>
          <p:cNvSpPr/>
          <p:nvPr/>
        </p:nvSpPr>
        <p:spPr>
          <a:xfrm>
            <a:off x="1554480" y="49194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弱关联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4480560"/>
            <a:ext cx="6309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文档未点名 CVE 但涉及同产品 → 标注为弱关联并明示“文档未直接提及该漏洞标识”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每条关联边在使用时输出关联理由与出处——“相关”不是黑盒，而是可检查的证据路径。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MODULE 3 · GROUNDED QA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规则问答：来源引用、关系路径与拒答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pic>
        <p:nvPicPr>
          <p:cNvPr id="5" name="Image 0" descr="/Users/kyrie/戴书恒/中国电子杯/赛题9_知盾AI安全情报系统/docs/report_assets/fig3_qa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6949440" cy="3877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0" y="15544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当前可检查的规则路径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772400" y="1938528"/>
            <a:ext cx="3913632" cy="2286000"/>
          </a:xfrm>
          <a:prstGeom prst="roundRect">
            <a:avLst>
              <a:gd name="adj" fmla="val 2400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91856" y="210312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问：CVE-2024-37032 影响哪些资产、如何修复？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3D9BE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trace: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524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CVE → affects_product → ollama [1][2]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524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CVE → local_asset_version_match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524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→ 演示-虚构-Ollama节点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证据：公告版本范围 + 本地授权清单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4443984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EAF2F9"/>
          </a:solidFill>
          <a:ln/>
        </p:spPr>
      </p:sp>
      <p:sp>
        <p:nvSpPr>
          <p:cNvPr id="10" name="Text 7"/>
          <p:cNvSpPr/>
          <p:nvPr/>
        </p:nvSpPr>
        <p:spPr>
          <a:xfrm>
            <a:off x="7845552" y="4535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多轮上下文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45552" y="4828032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省略主语追问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107424" y="4443984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EAF2F9"/>
          </a:solidFill>
          <a:ln/>
        </p:spPr>
      </p:sp>
      <p:sp>
        <p:nvSpPr>
          <p:cNvPr id="13" name="Text 10"/>
          <p:cNvSpPr/>
          <p:nvPr/>
        </p:nvSpPr>
        <p:spPr>
          <a:xfrm>
            <a:off x="9180576" y="4535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显式拒答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80576" y="4828032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abstained + 缺失说明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442448" y="4443984"/>
            <a:ext cx="1243584" cy="914400"/>
          </a:xfrm>
          <a:prstGeom prst="roundRect">
            <a:avLst>
              <a:gd name="adj" fmla="val 6000"/>
            </a:avLst>
          </a:prstGeom>
          <a:solidFill>
            <a:srgbClr val="EAF2F9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0" y="45354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可选 GLM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515600" y="4828032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意图+证据选择，失败回退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SECURITY &amp; TRUST BOUNDARY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安全边界：把不可控性锁进最小范围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16466E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5179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不可信输入处理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5179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网页按数据处理；GLM 接收问题与候选公开情报段落，不接收资产段落或数据库全文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16466E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230428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注入与 Web 防线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23042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严格 CSP · 跨源写入校验 · 1MB 请求上限 · 路径穿越防护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90672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16466E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0906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授权资产原则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0906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只比对本地登记清单，不扫描、不探测任何陌生目标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877056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164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387705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PoC 只读不执行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387705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仅收录元数据与链接，答案明示“系统不会执行验证代码”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2651760" cy="658368"/>
          </a:xfrm>
          <a:prstGeom prst="roundRect">
            <a:avLst>
              <a:gd name="adj" fmla="val 8333"/>
            </a:avLst>
          </a:prstGeom>
          <a:solidFill>
            <a:srgbClr val="164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46634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拒答设计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46634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实体不存在/证据不足 → abstained=true + 说明缺失，与引用核验一起纳入评测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504688"/>
            <a:ext cx="11183112" cy="841248"/>
          </a:xfrm>
          <a:prstGeom prst="roundRect">
            <a:avLst>
              <a:gd name="adj" fmla="val 7609"/>
            </a:avLst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59612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自定 Agentic AI 安全样例 · 6/6 通过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FB6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参考 OWASP 建议作六攻击面映射；本地样例通过不等于外部认证或全面安全保证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工程基础：本地启动、接口与部署配置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54680" y="177393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17739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终端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" y="1755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一键启动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0664" y="22311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python3 -m app.server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零第三方依赖 · 断网可演示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57276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76872" y="177393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/>
        </p:spPr>
      </p:sp>
      <p:sp>
        <p:nvSpPr>
          <p:cNvPr id="12" name="Text 10"/>
          <p:cNvSpPr/>
          <p:nvPr/>
        </p:nvSpPr>
        <p:spPr>
          <a:xfrm>
            <a:off x="6976872" y="17739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接口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62856" y="1755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REST API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62856" y="22311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问答/采集/详情/指标接口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请求校验与安全响应头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47304" y="157276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99064" y="177393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9064" y="177393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监控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85048" y="1755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可观测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85048" y="223113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运行与事件轨迹界面化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Prometheus /metrics 指标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67588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387705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/>
        </p:spPr>
      </p:sp>
      <p:sp>
        <p:nvSpPr>
          <p:cNvPr id="22" name="Text 20"/>
          <p:cNvSpPr/>
          <p:nvPr/>
        </p:nvSpPr>
        <p:spPr>
          <a:xfrm>
            <a:off x="3154680" y="387705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部署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" y="3858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容器化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40664" y="43342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Dockerfile 非 root 运行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Compose 健康检查+命名卷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5112" y="367588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76872" y="387705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/>
        </p:spPr>
      </p:sp>
      <p:sp>
        <p:nvSpPr>
          <p:cNvPr id="27" name="Text 25"/>
          <p:cNvSpPr/>
          <p:nvPr/>
        </p:nvSpPr>
        <p:spPr>
          <a:xfrm>
            <a:off x="6976872" y="387705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质量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62856" y="3858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CI 回归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4562856" y="43342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GitHub Actions 配置单测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远端运行状态需另行核验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47304" y="3675888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799064" y="3877056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EAF2F9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9064" y="3877056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验收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385048" y="38587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CLI 与评测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8385048" y="4334256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cli.py 演示/统计/采集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evaluate.py 开发规则自测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EVALUATION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离线开发规则自测：9/9 通过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0B1F33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9/9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固定规则通过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761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基础5 + 同CVE关联3 + 拒答1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4992" y="1517904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47872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11/11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47872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必需引用存在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47872" y="2761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来源 ID 和 URL 与样例匹配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7064" y="1517904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9944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14/14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9944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事实同行标记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9944" y="2761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不能代替来源内容核验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89136" y="1517904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  <a:effectLst>
            <a:outerShdw sx="100000" sy="100000" kx="0" ky="0" algn="bl" rotWithShape="0" blurRad="88900" dist="25400" dir="2700000">
              <a:srgbClr val="0B1F3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72016" y="16642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7/7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72016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原样重放跳过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272016" y="2761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不代表在线去重准确率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1188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592531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评测项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结果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口径说明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4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单元测试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62/62 通过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连接器/归一去重/版本区间/拒答/Agentic 自安全；2026-09-29 本地回归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漏洞实体归并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3 实体 / 7 文档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同 CVE 双来源正确归并为证据组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资产匹配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3/3 符合预期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affected×2、not_affected×1，含区间边界用例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问答响应分布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以现场运行为准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43A"/>
                          </a:solidFill>
                          <a:latin typeface="Heiti SC" pitchFamily="34" charset="0"/>
                          <a:ea typeface="Heiti SC" pitchFamily="34" charset="-122"/>
                          <a:cs typeface="Heiti SC" pitchFamily="34" charset="-120"/>
                        </a:rPr>
                        <a:t>单用户进程内 ask；无 HTTP/联网/模型，不能证明 ≤5s 档</a:t>
                      </a:r>
                      <a:endParaRPr lang="en-US" sz="1200" dirty="0">
                        <a:latin typeface="Heiti SC" charset="0"/>
                        <a:ea typeface="Heiti SC" charset="0"/>
                        <a:cs typeface="Heiti S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502920" y="58704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口径：题目与 7 条人工摘要同源；9/9 是规则通过率，不是语义准确率、富化召回率或官方评分。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INNOVATIONS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设计特色与当前验证边界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517904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EAF2F9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664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证据化声明模型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029968"/>
            <a:ext cx="4315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富化重构为带出处、带证据片段、带置信度的 claims 三元组；多源分歧并列而非静默裁决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517904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3368" y="1664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086600" y="16642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三类规则关联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086600" y="2029968"/>
            <a:ext cx="4315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 CVE 归并 / mentioned_in 提及 / 产品重合推断，关联理由随答案输出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999232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EAF2F9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1455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1455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拒答作为一等能力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17320" y="3511296"/>
            <a:ext cx="4315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abstained + 缺失说明纳入评测题集，直接对抗情报系统幻觉风险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2999232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3368" y="314553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086600" y="314553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受控 GLM-5.3 增强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086600" y="3511296"/>
            <a:ext cx="4315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意图规划和公开证据段落选择；失败回退。一条真实 HTTP 问答已走通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48056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EAF2F9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46268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17320" y="46268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自安全+可审计编排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417320" y="4992624"/>
            <a:ext cx="4315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OWASP 六攻击面自检为产品功能；10 类 Agent 每步决策落盘，自愈回路留痕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448056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3368" y="462686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86600" y="462686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指标诚实工程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86600" y="4992624"/>
            <a:ext cx="4315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双时间戳+模式标记延迟统计、快照/在线三态区分，每项声明可复核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035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该原型把公开来源、人工整理摘要、本地资产版本匹配与带出处问答放在一套可离线复现的系统中。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HONEST BOUNDARIES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如实标注的边界与可执行路线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268712" y="347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7B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当前如实未声称的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线上 ≥7 类源持续可用性与 ≤6h 采集延迟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富化准确率/召回率 ≥95% 的人工真值评测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大规模题集语义泛化与多跳准确率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5243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生产级高并发、完整 DevOps 实测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350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F6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验收路线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1920240"/>
            <a:ext cx="5623560" cy="841248"/>
          </a:xfrm>
          <a:prstGeom prst="roundRect">
            <a:avLst>
              <a:gd name="adj" fmla="val 652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4496" y="20116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在线持续运行实测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54496" y="2340864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逐类源成功率与 ≤6h 延迟分布；归档原始批次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2889504"/>
            <a:ext cx="5623560" cy="841248"/>
          </a:xfrm>
          <a:prstGeom prst="roundRect">
            <a:avLst>
              <a:gd name="adj" fmla="val 652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54496" y="298094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富化真值评测集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54496" y="3310128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分维度 TP/FP/FN 人工标注、双人复核 → 准确率/召回率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858768"/>
            <a:ext cx="5623560" cy="841248"/>
          </a:xfrm>
          <a:prstGeom prst="roundRect">
            <a:avLst>
              <a:gd name="adj" fmla="val 652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39502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语义检索增强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54496" y="4279392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本地嵌入模型向量召回 + FTS5 混合排序；题集扩至 50+ 并分离留出集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4828032"/>
            <a:ext cx="5623560" cy="841248"/>
          </a:xfrm>
          <a:prstGeom prst="roundRect">
            <a:avLst>
              <a:gd name="adj" fmla="val 6522"/>
            </a:avLst>
          </a:prstGeom>
          <a:solidFill>
            <a:srgbClr val="F4F8FC"/>
          </a:solidFill>
          <a:ln w="9525">
            <a:solidFill>
              <a:srgbClr val="D9E4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491947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GLM-5.3 效果对照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54496" y="5248656"/>
            <a:ext cx="5230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扩展当前单条 HTTP 验收，用留出题集比较质量和延迟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94360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6466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下一步先归档在线原始记录，再建立独立人工真值集，按赛题档位复测。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228832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286000"/>
            <a:ext cx="3108960" cy="3108960"/>
          </a:xfrm>
          <a:prstGeom prst="ellipse">
            <a:avLst/>
          </a:prstGeom>
          <a:solidFill>
            <a:srgbClr val="0B1F33">
              <a:alpha val="0"/>
            </a:srgbClr>
          </a:solidFill>
          <a:ln w="15240">
            <a:solidFill>
              <a:srgbClr val="122A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91640" y="3017520"/>
            <a:ext cx="1645920" cy="1645920"/>
          </a:xfrm>
          <a:prstGeom prst="ellipse">
            <a:avLst/>
          </a:prstGeom>
          <a:solidFill>
            <a:srgbClr val="0B1F33">
              <a:alpha val="0"/>
            </a:srgbClr>
          </a:solidFill>
          <a:ln w="15240">
            <a:solidFill>
              <a:srgbClr val="12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2848" y="3538728"/>
            <a:ext cx="603504" cy="603504"/>
          </a:xfrm>
          <a:prstGeom prst="ellipse">
            <a:avLst/>
          </a:prstGeom>
          <a:solidFill>
            <a:srgbClr val="3D9BE9"/>
          </a:solidFill>
          <a:ln/>
        </p:spPr>
      </p:sp>
      <p:sp>
        <p:nvSpPr>
          <p:cNvPr id="5" name="Text 3"/>
          <p:cNvSpPr/>
          <p:nvPr/>
        </p:nvSpPr>
        <p:spPr>
          <a:xfrm>
            <a:off x="4846320" y="23317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让每条安全情报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D9B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有来源、有关联、有答案。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846320" y="4069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现场演示：python3 -m app.server --no-scheduler  →  http://127.0.0.1:8765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4572000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知盾 ZhìDùn · 赛题九 网信产业应用赛道 · 第三届“中国电子杯”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知盾：智能体驱动的AI安全知识情报系统</dc:title>
  <dc:subject>PptxGenJS Presentation</dc:subject>
  <dc:creator>Zhidun Team</dc:creator>
  <cp:lastModifiedBy>Zhidun Team</cp:lastModifiedBy>
  <cp:revision>1</cp:revision>
  <dcterms:created xsi:type="dcterms:W3CDTF">2026-09-29T07:23:54Z</dcterms:created>
  <dcterms:modified xsi:type="dcterms:W3CDTF">2026-09-29T07:23:54Z</dcterms:modified>
</cp:coreProperties>
</file>